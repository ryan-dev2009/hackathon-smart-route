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74" r:id="rId4"/>
    <p:sldId id="259" r:id="rId5"/>
    <p:sldId id="260" r:id="rId6"/>
    <p:sldId id="261" r:id="rId7"/>
    <p:sldId id="262" r:id="rId8"/>
    <p:sldId id="263" r:id="rId9"/>
    <p:sldId id="275" r:id="rId10"/>
    <p:sldId id="264" r:id="rId11"/>
    <p:sldId id="266" r:id="rId12"/>
    <p:sldId id="267" r:id="rId13"/>
    <p:sldId id="268" r:id="rId14"/>
    <p:sldId id="269" r:id="rId15"/>
    <p:sldId id="276" r:id="rId16"/>
    <p:sldId id="277" r:id="rId17"/>
    <p:sldId id="270" r:id="rId18"/>
    <p:sldId id="273"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3" Type="http://schemas.openxmlformats.org/officeDocument/2006/relationships/slide" Target="slides/slide2.xml" /><Relationship Id="rId21" Type="http://schemas.openxmlformats.org/officeDocument/2006/relationships/viewProps" Target="viewProp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presProps" Target="pres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tableStyles" Target="tableStyles.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11/12/2025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7.xml" /></Relationships>
</file>

<file path=ppt/slides/_rels/slide2.xml.rels><?xml version="1.0" encoding="UTF-8" standalone="yes"?>
<Relationships xmlns="http://schemas.openxmlformats.org/package/2006/relationships"><Relationship Id="rId2" Type="http://schemas.openxmlformats.org/officeDocument/2006/relationships/image" Target="../media/image2.jpg" /><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Relationship Id="rId3" Type="http://schemas.openxmlformats.org/officeDocument/2006/relationships/image" Target="../media/image5.jpeg" /><Relationship Id="rId2" Type="http://schemas.openxmlformats.org/officeDocument/2006/relationships/image" Target="../media/image4.jpeg" /><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3" Type="http://schemas.openxmlformats.org/officeDocument/2006/relationships/image" Target="../media/image6.jpeg" /><Relationship Id="rId2" Type="http://schemas.openxmlformats.org/officeDocument/2006/relationships/image" Target="../media/image4.jpeg" /><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Relationship Id="rId2" Type="http://schemas.openxmlformats.org/officeDocument/2006/relationships/image" Target="../media/image4.jpeg" /><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Relationship Id="rId3" Type="http://schemas.openxmlformats.org/officeDocument/2006/relationships/image" Target="../media/image7.jpeg" /><Relationship Id="rId2" Type="http://schemas.openxmlformats.org/officeDocument/2006/relationships/image" Target="../media/image4.jpeg" /><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Relationship Id="rId2" Type="http://schemas.openxmlformats.org/officeDocument/2006/relationships/image" Target="../media/image4.jpeg" /><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Relationship Id="rId2" Type="http://schemas.openxmlformats.org/officeDocument/2006/relationships/image" Target="../media/image4.jpeg" /><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Relationship Id="rId3" Type="http://schemas.openxmlformats.org/officeDocument/2006/relationships/image" Target="../media/image8.jpeg" /><Relationship Id="rId2" Type="http://schemas.openxmlformats.org/officeDocument/2006/relationships/image" Target="../media/image4.jpeg" /><Relationship Id="rId1" Type="http://schemas.openxmlformats.org/officeDocument/2006/relationships/slideLayout" Target="../slideLayouts/slideLayout7.xml" /></Relationships>
</file>

<file path=ppt/slides/_rels/slide11.xml.rels><?xml version="1.0" encoding="UTF-8" standalone="yes"?>
<Relationships xmlns="http://schemas.openxmlformats.org/package/2006/relationships"><Relationship Id="rId3" Type="http://schemas.openxmlformats.org/officeDocument/2006/relationships/image" Target="../media/image9.jpeg" /><Relationship Id="rId2" Type="http://schemas.openxmlformats.org/officeDocument/2006/relationships/image" Target="../media/image4.jpeg" /><Relationship Id="rId1" Type="http://schemas.openxmlformats.org/officeDocument/2006/relationships/slideLayout" Target="../slideLayouts/slideLayout7.xml" /><Relationship Id="rId4" Type="http://schemas.openxmlformats.org/officeDocument/2006/relationships/image" Target="../media/image10.jpeg" /></Relationships>
</file>

<file path=ppt/slides/_rels/slide12.xml.rels><?xml version="1.0" encoding="UTF-8" standalone="yes"?>
<Relationships xmlns="http://schemas.openxmlformats.org/package/2006/relationships"><Relationship Id="rId2" Type="http://schemas.openxmlformats.org/officeDocument/2006/relationships/image" Target="../media/image4.jpeg" /><Relationship Id="rId1" Type="http://schemas.openxmlformats.org/officeDocument/2006/relationships/slideLayout" Target="../slideLayouts/slideLayout7.xml" /></Relationships>
</file>

<file path=ppt/slides/_rels/slide13.xml.rels><?xml version="1.0" encoding="UTF-8" standalone="yes"?>
<Relationships xmlns="http://schemas.openxmlformats.org/package/2006/relationships"><Relationship Id="rId2" Type="http://schemas.openxmlformats.org/officeDocument/2006/relationships/image" Target="../media/image4.jpeg" /><Relationship Id="rId1" Type="http://schemas.openxmlformats.org/officeDocument/2006/relationships/slideLayout" Target="../slideLayouts/slideLayout7.xml" /></Relationships>
</file>

<file path=ppt/slides/_rels/slide14.xml.rels><?xml version="1.0" encoding="UTF-8" standalone="yes"?>
<Relationships xmlns="http://schemas.openxmlformats.org/package/2006/relationships"><Relationship Id="rId2" Type="http://schemas.openxmlformats.org/officeDocument/2006/relationships/image" Target="../media/image4.jpeg" /><Relationship Id="rId1" Type="http://schemas.openxmlformats.org/officeDocument/2006/relationships/slideLayout" Target="../slideLayouts/slideLayout7.xml" /></Relationships>
</file>

<file path=ppt/slides/_rels/slide15.xml.rels><?xml version="1.0" encoding="UTF-8" standalone="yes"?>
<Relationships xmlns="http://schemas.openxmlformats.org/package/2006/relationships"><Relationship Id="rId2" Type="http://schemas.openxmlformats.org/officeDocument/2006/relationships/image" Target="../media/image4.jpeg" /><Relationship Id="rId1" Type="http://schemas.openxmlformats.org/officeDocument/2006/relationships/slideLayout" Target="../slideLayouts/slideLayout7.xml" /></Relationships>
</file>

<file path=ppt/slides/_rels/slide16.xml.rels><?xml version="1.0" encoding="UTF-8" standalone="yes"?>
<Relationships xmlns="http://schemas.openxmlformats.org/package/2006/relationships"><Relationship Id="rId2" Type="http://schemas.openxmlformats.org/officeDocument/2006/relationships/image" Target="../media/image4.jpeg" /><Relationship Id="rId1" Type="http://schemas.openxmlformats.org/officeDocument/2006/relationships/slideLayout" Target="../slideLayouts/slideLayout7.xml" /></Relationships>
</file>

<file path=ppt/slides/_rels/slide17.xml.rels><?xml version="1.0" encoding="UTF-8" standalone="yes"?>
<Relationships xmlns="http://schemas.openxmlformats.org/package/2006/relationships"><Relationship Id="rId2" Type="http://schemas.openxmlformats.org/officeDocument/2006/relationships/image" Target="../media/image4.jpeg" /><Relationship Id="rId1" Type="http://schemas.openxmlformats.org/officeDocument/2006/relationships/slideLayout" Target="../slideLayouts/slideLayout7.xml" /></Relationships>
</file>

<file path=ppt/slides/_rels/slide18.xml.rels><?xml version="1.0" encoding="UTF-8" standalone="yes"?>
<Relationships xmlns="http://schemas.openxmlformats.org/package/2006/relationships"><Relationship Id="rId2" Type="http://schemas.openxmlformats.org/officeDocument/2006/relationships/image" Target="../media/image11.jpeg" /><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69849" y="3867586"/>
            <a:ext cx="4572000" cy="2286000"/>
          </a:xfrm>
          <a:prstGeom prst="rect">
            <a:avLst/>
          </a:prstGeom>
          <a:noFill/>
        </p:spPr>
        <p:txBody>
          <a:bodyPr wrap="square">
            <a:spAutoFit/>
          </a:bodyPr>
          <a:lstStyle/>
          <a:p>
            <a:pPr algn="l"/>
            <a:r>
              <a:rPr sz="2800">
                <a:solidFill>
                  <a:srgbClr val="FFFFFF"/>
                </a:solidFill>
              </a:rPr>
              <a:t>Members:</a:t>
            </a:r>
          </a:p>
          <a:p>
            <a:r>
              <a:rPr sz="2800">
                <a:solidFill>
                  <a:srgbClr val="FFFFFF"/>
                </a:solidFill>
              </a:rPr>
              <a:t>• Anmol Patodia</a:t>
            </a:r>
          </a:p>
          <a:p>
            <a:r>
              <a:rPr sz="2800">
                <a:solidFill>
                  <a:srgbClr val="FFFFFF"/>
                </a:solidFill>
              </a:rPr>
              <a:t>• Riyan Baruah</a:t>
            </a:r>
          </a:p>
          <a:p>
            <a:r>
              <a:rPr sz="2800">
                <a:solidFill>
                  <a:srgbClr val="FFFFFF"/>
                </a:solidFill>
              </a:rPr>
              <a:t>• Biddipta Kashyap</a:t>
            </a:r>
          </a:p>
          <a:p>
            <a:r>
              <a:rPr sz="2800">
                <a:solidFill>
                  <a:srgbClr val="FFFFFF"/>
                </a:solidFill>
              </a:rPr>
              <a:t>• Abhishu Baruah</a:t>
            </a:r>
          </a:p>
        </p:txBody>
      </p:sp>
      <p:pic>
        <p:nvPicPr>
          <p:cNvPr id="7" name="Picture 6">
            <a:extLst>
              <a:ext uri="{FF2B5EF4-FFF2-40B4-BE49-F238E27FC236}">
                <a16:creationId xmlns:a16="http://schemas.microsoft.com/office/drawing/2014/main" id="{4D4AB1D4-DCEC-6BE0-48E8-BC24349A58E6}"/>
              </a:ext>
            </a:extLst>
          </p:cNvPr>
          <p:cNvPicPr>
            <a:picLocks noChangeAspect="1"/>
          </p:cNvPicPr>
          <p:nvPr/>
        </p:nvPicPr>
        <p:blipFill>
          <a:blip r:embed="rId2"/>
          <a:stretch>
            <a:fillRect/>
          </a:stretch>
        </p:blipFill>
        <p:spPr>
          <a:xfrm>
            <a:off x="0" y="0"/>
            <a:ext cx="9328138" cy="685800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0A1928"/>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1000022647.jpg"/>
          <p:cNvPicPr>
            <a:picLocks noChangeAspect="1"/>
          </p:cNvPicPr>
          <p:nvPr/>
        </p:nvPicPr>
        <p:blipFill>
          <a:blip r:embed="rId2"/>
          <a:stretch>
            <a:fillRect/>
          </a:stretch>
        </p:blipFill>
        <p:spPr>
          <a:xfrm>
            <a:off x="4114800" y="0"/>
            <a:ext cx="5029200" cy="6858000"/>
          </a:xfrm>
          <a:prstGeom prst="rect">
            <a:avLst/>
          </a:prstGeom>
        </p:spPr>
      </p:pic>
      <p:sp>
        <p:nvSpPr>
          <p:cNvPr id="4" name="TextBox 3"/>
          <p:cNvSpPr txBox="1"/>
          <p:nvPr/>
        </p:nvSpPr>
        <p:spPr>
          <a:xfrm>
            <a:off x="0" y="1685836"/>
            <a:ext cx="5029200" cy="2123658"/>
          </a:xfrm>
          <a:prstGeom prst="rect">
            <a:avLst/>
          </a:prstGeom>
          <a:noFill/>
        </p:spPr>
        <p:txBody>
          <a:bodyPr wrap="square">
            <a:spAutoFit/>
          </a:bodyPr>
          <a:lstStyle/>
          <a:p>
            <a:pPr algn="l">
              <a:defRPr sz="4400" b="1">
                <a:solidFill>
                  <a:srgbClr val="00FFFF"/>
                </a:solidFill>
              </a:defRPr>
            </a:pPr>
            <a:r>
              <a:rPr sz="6600"/>
              <a:t>Traffic Jam Management</a:t>
            </a:r>
          </a:p>
        </p:txBody>
      </p:sp>
      <p:sp>
        <p:nvSpPr>
          <p:cNvPr id="5" name="TextBox 4"/>
          <p:cNvSpPr txBox="1"/>
          <p:nvPr/>
        </p:nvSpPr>
        <p:spPr>
          <a:xfrm>
            <a:off x="731520" y="2286000"/>
            <a:ext cx="5029200" cy="461665"/>
          </a:xfrm>
          <a:prstGeom prst="rect">
            <a:avLst/>
          </a:prstGeom>
          <a:noFill/>
        </p:spPr>
        <p:txBody>
          <a:bodyPr wrap="square">
            <a:spAutoFit/>
          </a:bodyPr>
          <a:lstStyle/>
          <a:p>
            <a:endParaRPr sz="2400" dirty="0">
              <a:solidFill>
                <a:srgbClr val="FFFFFF"/>
              </a:solidFill>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D53B979-63F4-D1B8-2816-A0718DA7E2C6}"/>
              </a:ext>
            </a:extLst>
          </p:cNvPr>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169762425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CF65A97-05DF-CAFC-86B3-3196917A54BA}"/>
              </a:ext>
            </a:extLst>
          </p:cNvPr>
          <p:cNvPicPr>
            <a:picLocks noChangeAspect="1"/>
          </p:cNvPicPr>
          <p:nvPr/>
        </p:nvPicPr>
        <p:blipFill>
          <a:blip r:embed="rId2"/>
          <a:stretch>
            <a:fillRect/>
          </a:stretch>
        </p:blipFill>
        <p:spPr>
          <a:xfrm>
            <a:off x="-1" y="1"/>
            <a:ext cx="9220565" cy="6858000"/>
          </a:xfrm>
          <a:prstGeom prst="rect">
            <a:avLst/>
          </a:prstGeom>
        </p:spPr>
      </p:pic>
      <p:sp>
        <p:nvSpPr>
          <p:cNvPr id="3" name="TextBox 2">
            <a:extLst>
              <a:ext uri="{FF2B5EF4-FFF2-40B4-BE49-F238E27FC236}">
                <a16:creationId xmlns:a16="http://schemas.microsoft.com/office/drawing/2014/main" id="{0743C5C5-6DFF-0EAB-FB5B-11CE6D727CF5}"/>
              </a:ext>
            </a:extLst>
          </p:cNvPr>
          <p:cNvSpPr txBox="1"/>
          <p:nvPr/>
        </p:nvSpPr>
        <p:spPr>
          <a:xfrm>
            <a:off x="517082" y="1188772"/>
            <a:ext cx="6038379" cy="2769989"/>
          </a:xfrm>
          <a:prstGeom prst="rect">
            <a:avLst/>
          </a:prstGeom>
          <a:noFill/>
        </p:spPr>
        <p:txBody>
          <a:bodyPr wrap="square" rtlCol="0">
            <a:spAutoFit/>
          </a:bodyPr>
          <a:lstStyle/>
          <a:p>
            <a:pPr algn="l"/>
            <a:r>
              <a:rPr lang="en-US" sz="6600" u="sng">
                <a:solidFill>
                  <a:schemeClr val="bg1"/>
                </a:solidFill>
              </a:rPr>
              <a:t>Used</a:t>
            </a:r>
            <a:r>
              <a:rPr lang="en-US" sz="3200">
                <a:solidFill>
                  <a:schemeClr val="bg1"/>
                </a:solidFill>
              </a:rPr>
              <a:t> </a:t>
            </a:r>
            <a:r>
              <a:rPr lang="en-US" sz="6600" u="sng">
                <a:solidFill>
                  <a:schemeClr val="bg1"/>
                </a:solidFill>
              </a:rPr>
              <a:t>software</a:t>
            </a:r>
            <a:endParaRPr lang="en-US" sz="3200" dirty="0">
              <a:solidFill>
                <a:schemeClr val="bg1"/>
              </a:solidFill>
            </a:endParaRPr>
          </a:p>
          <a:p>
            <a:pPr algn="l"/>
            <a:endParaRPr lang="en-US" dirty="0">
              <a:solidFill>
                <a:schemeClr val="bg1"/>
              </a:solidFill>
            </a:endParaRPr>
          </a:p>
          <a:p>
            <a:pPr algn="l"/>
            <a:r>
              <a:rPr lang="en-US" sz="7200" dirty="0">
                <a:solidFill>
                  <a:schemeClr val="bg1"/>
                </a:solidFill>
              </a:rPr>
              <a:t>HTML</a:t>
            </a:r>
          </a:p>
          <a:p>
            <a:pPr algn="l"/>
            <a:endParaRPr lang="en-US" dirty="0">
              <a:solidFill>
                <a:schemeClr val="bg1"/>
              </a:solidFill>
            </a:endParaRPr>
          </a:p>
        </p:txBody>
      </p:sp>
      <p:pic>
        <p:nvPicPr>
          <p:cNvPr id="5" name="Picture 4">
            <a:extLst>
              <a:ext uri="{FF2B5EF4-FFF2-40B4-BE49-F238E27FC236}">
                <a16:creationId xmlns:a16="http://schemas.microsoft.com/office/drawing/2014/main" id="{E159A9DD-2342-8510-0048-5C51C889D3E5}"/>
              </a:ext>
            </a:extLst>
          </p:cNvPr>
          <p:cNvPicPr>
            <a:picLocks noChangeAspect="1"/>
          </p:cNvPicPr>
          <p:nvPr/>
        </p:nvPicPr>
        <p:blipFill>
          <a:blip r:embed="rId3"/>
          <a:stretch>
            <a:fillRect/>
          </a:stretch>
        </p:blipFill>
        <p:spPr>
          <a:xfrm>
            <a:off x="6331767" y="1710675"/>
            <a:ext cx="2295151" cy="2702197"/>
          </a:xfrm>
          <a:prstGeom prst="rect">
            <a:avLst/>
          </a:prstGeom>
        </p:spPr>
      </p:pic>
    </p:spTree>
    <p:extLst>
      <p:ext uri="{BB962C8B-B14F-4D97-AF65-F5344CB8AC3E}">
        <p14:creationId xmlns:p14="http://schemas.microsoft.com/office/powerpoint/2010/main" val="185497127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4F3D59D-E7EA-1267-6FBC-6D85A4316951}"/>
              </a:ext>
            </a:extLst>
          </p:cNvPr>
          <p:cNvPicPr>
            <a:picLocks noChangeAspect="1"/>
          </p:cNvPicPr>
          <p:nvPr/>
        </p:nvPicPr>
        <p:blipFill>
          <a:blip r:embed="rId2"/>
          <a:stretch>
            <a:fillRect/>
          </a:stretch>
        </p:blipFill>
        <p:spPr>
          <a:xfrm>
            <a:off x="0" y="10827"/>
            <a:ext cx="9143999" cy="6818403"/>
          </a:xfrm>
          <a:prstGeom prst="rect">
            <a:avLst/>
          </a:prstGeom>
        </p:spPr>
      </p:pic>
      <p:sp>
        <p:nvSpPr>
          <p:cNvPr id="3" name="TextBox 2">
            <a:extLst>
              <a:ext uri="{FF2B5EF4-FFF2-40B4-BE49-F238E27FC236}">
                <a16:creationId xmlns:a16="http://schemas.microsoft.com/office/drawing/2014/main" id="{105EF05A-A91C-A6C8-7ED6-0537D22E9B48}"/>
              </a:ext>
            </a:extLst>
          </p:cNvPr>
          <p:cNvSpPr txBox="1"/>
          <p:nvPr/>
        </p:nvSpPr>
        <p:spPr>
          <a:xfrm>
            <a:off x="361424" y="715580"/>
            <a:ext cx="5005706" cy="4308872"/>
          </a:xfrm>
          <a:prstGeom prst="rect">
            <a:avLst/>
          </a:prstGeom>
          <a:noFill/>
        </p:spPr>
        <p:txBody>
          <a:bodyPr wrap="square" rtlCol="0">
            <a:spAutoFit/>
          </a:bodyPr>
          <a:lstStyle/>
          <a:p>
            <a:pPr marL="571500" indent="-571500" algn="l">
              <a:buFont typeface="Arial" panose="020B0604020202020204" pitchFamily="34" charset="0"/>
              <a:buChar char="•"/>
            </a:pPr>
            <a:r>
              <a:rPr lang="en-US" sz="4000" dirty="0">
                <a:solidFill>
                  <a:schemeClr val="bg1"/>
                </a:solidFill>
              </a:rPr>
              <a:t>Contents </a:t>
            </a:r>
          </a:p>
          <a:p>
            <a:pPr marL="342900" indent="-342900" algn="l">
              <a:buFont typeface="+mj-lt"/>
              <a:buAutoNum type="arabicPeriod"/>
            </a:pPr>
            <a:r>
              <a:rPr lang="en-US" dirty="0">
                <a:solidFill>
                  <a:schemeClr val="bg1"/>
                </a:solidFill>
              </a:rPr>
              <a:t>Introduction 
What is Traffic 
How it harms us a affects our daily life 
What we want to solve 
About our Website 
How it will help and work 
Who will it help 
Final impact in a long run 
Stability and scalability </a:t>
            </a:r>
          </a:p>
          <a:p>
            <a:pPr marL="342900" indent="-342900" algn="l">
              <a:buFont typeface="+mj-lt"/>
              <a:buAutoNum type="arabicPeriod"/>
            </a:pPr>
            <a:r>
              <a:rPr lang="en-US" dirty="0">
                <a:solidFill>
                  <a:schemeClr val="bg1"/>
                </a:solidFill>
              </a:rPr>
              <a:t>Things which we could fulfill and things We were not able to fulfill</a:t>
            </a:r>
          </a:p>
          <a:p>
            <a:pPr marL="342900" indent="-342900" algn="l">
              <a:buFont typeface="+mj-lt"/>
              <a:buAutoNum type="arabicPeriod"/>
            </a:pPr>
            <a:r>
              <a:rPr lang="en-US" dirty="0">
                <a:solidFill>
                  <a:schemeClr val="bg1"/>
                </a:solidFill>
              </a:rPr>
              <a:t>Trial and errors
Conclusion</a:t>
            </a:r>
          </a:p>
        </p:txBody>
      </p:sp>
      <p:pic>
        <p:nvPicPr>
          <p:cNvPr id="4" name="Picture 3">
            <a:extLst>
              <a:ext uri="{FF2B5EF4-FFF2-40B4-BE49-F238E27FC236}">
                <a16:creationId xmlns:a16="http://schemas.microsoft.com/office/drawing/2014/main" id="{1F2F9BEA-9659-1805-C1E5-3AD8C95C42C2}"/>
              </a:ext>
            </a:extLst>
          </p:cNvPr>
          <p:cNvPicPr>
            <a:picLocks noChangeAspect="1"/>
          </p:cNvPicPr>
          <p:nvPr/>
        </p:nvPicPr>
        <p:blipFill>
          <a:blip r:embed="rId3"/>
          <a:stretch>
            <a:fillRect/>
          </a:stretch>
        </p:blipFill>
        <p:spPr>
          <a:xfrm>
            <a:off x="4922787" y="1391478"/>
            <a:ext cx="3859789" cy="4075444"/>
          </a:xfrm>
          <a:prstGeom prst="rect">
            <a:avLst/>
          </a:prstGeom>
        </p:spPr>
      </p:pic>
    </p:spTree>
    <p:extLst>
      <p:ext uri="{BB962C8B-B14F-4D97-AF65-F5344CB8AC3E}">
        <p14:creationId xmlns:p14="http://schemas.microsoft.com/office/powerpoint/2010/main" val="293895450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6079853-1ECB-755F-F5DA-92A49520B243}"/>
              </a:ext>
            </a:extLst>
          </p:cNvPr>
          <p:cNvPicPr>
            <a:picLocks noChangeAspect="1"/>
          </p:cNvPicPr>
          <p:nvPr/>
        </p:nvPicPr>
        <p:blipFill>
          <a:blip r:embed="rId2"/>
          <a:stretch>
            <a:fillRect/>
          </a:stretch>
        </p:blipFill>
        <p:spPr>
          <a:xfrm>
            <a:off x="-299331" y="0"/>
            <a:ext cx="9533516" cy="6858000"/>
          </a:xfrm>
          <a:prstGeom prst="rect">
            <a:avLst/>
          </a:prstGeom>
        </p:spPr>
      </p:pic>
      <p:sp>
        <p:nvSpPr>
          <p:cNvPr id="3" name="TextBox 2">
            <a:extLst>
              <a:ext uri="{FF2B5EF4-FFF2-40B4-BE49-F238E27FC236}">
                <a16:creationId xmlns:a16="http://schemas.microsoft.com/office/drawing/2014/main" id="{62BB3E5A-9644-E8FB-87D0-8EA33D666F17}"/>
              </a:ext>
            </a:extLst>
          </p:cNvPr>
          <p:cNvSpPr txBox="1"/>
          <p:nvPr/>
        </p:nvSpPr>
        <p:spPr>
          <a:xfrm>
            <a:off x="412639" y="1201522"/>
            <a:ext cx="6695360" cy="2677656"/>
          </a:xfrm>
          <a:prstGeom prst="rect">
            <a:avLst/>
          </a:prstGeom>
          <a:noFill/>
        </p:spPr>
        <p:txBody>
          <a:bodyPr wrap="square" rtlCol="0">
            <a:spAutoFit/>
          </a:bodyPr>
          <a:lstStyle/>
          <a:p>
            <a:pPr algn="l"/>
            <a:endParaRPr lang="en-US" dirty="0"/>
          </a:p>
          <a:p>
            <a:pPr algn="l"/>
            <a:r>
              <a:rPr lang="en-US" sz="4800" dirty="0">
                <a:solidFill>
                  <a:schemeClr val="bg1"/>
                </a:solidFill>
              </a:rPr>
              <a:t>Introduction </a:t>
            </a:r>
          </a:p>
          <a:p>
            <a:pPr algn="l"/>
            <a:r>
              <a:rPr lang="en-US" sz="2000" dirty="0">
                <a:solidFill>
                  <a:schemeClr val="bg1"/>
                </a:solidFill>
              </a:rPr>
              <a:t> </a:t>
            </a:r>
          </a:p>
          <a:p>
            <a:pPr algn="l"/>
            <a:r>
              <a:rPr lang="en-US" sz="2000" dirty="0">
                <a:solidFill>
                  <a:schemeClr val="bg1"/>
                </a:solidFill>
              </a:rPr>
              <a:t>Traffic jam management is the practice of controlling and reducing congestion on roads to ensure smooth and safe vehicle movement. It helps save time, reduce fuel use, and make travel easier for everyone</a:t>
            </a:r>
            <a:r>
              <a:rPr lang="en-US" dirty="0"/>
              <a:t>.</a:t>
            </a:r>
          </a:p>
        </p:txBody>
      </p:sp>
    </p:spTree>
    <p:extLst>
      <p:ext uri="{BB962C8B-B14F-4D97-AF65-F5344CB8AC3E}">
        <p14:creationId xmlns:p14="http://schemas.microsoft.com/office/powerpoint/2010/main" val="322119796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25C0714-D3A2-D96A-0D4F-76578898801C}"/>
              </a:ext>
            </a:extLst>
          </p:cNvPr>
          <p:cNvPicPr>
            <a:picLocks noChangeAspect="1"/>
          </p:cNvPicPr>
          <p:nvPr/>
        </p:nvPicPr>
        <p:blipFill>
          <a:blip r:embed="rId2"/>
          <a:stretch>
            <a:fillRect/>
          </a:stretch>
        </p:blipFill>
        <p:spPr>
          <a:xfrm>
            <a:off x="0" y="0"/>
            <a:ext cx="9144000" cy="6858000"/>
          </a:xfrm>
          <a:prstGeom prst="rect">
            <a:avLst/>
          </a:prstGeom>
        </p:spPr>
      </p:pic>
      <p:sp>
        <p:nvSpPr>
          <p:cNvPr id="3" name="TextBox 2">
            <a:extLst>
              <a:ext uri="{FF2B5EF4-FFF2-40B4-BE49-F238E27FC236}">
                <a16:creationId xmlns:a16="http://schemas.microsoft.com/office/drawing/2014/main" id="{B27FC812-5D37-2C8B-F5E9-D9EE2FF4EB77}"/>
              </a:ext>
            </a:extLst>
          </p:cNvPr>
          <p:cNvSpPr txBox="1"/>
          <p:nvPr/>
        </p:nvSpPr>
        <p:spPr>
          <a:xfrm>
            <a:off x="740917" y="885486"/>
            <a:ext cx="6370079" cy="2431435"/>
          </a:xfrm>
          <a:prstGeom prst="rect">
            <a:avLst/>
          </a:prstGeom>
          <a:noFill/>
        </p:spPr>
        <p:txBody>
          <a:bodyPr wrap="square" rtlCol="0">
            <a:spAutoFit/>
          </a:bodyPr>
          <a:lstStyle/>
          <a:p>
            <a:pPr algn="l"/>
            <a:endParaRPr lang="en-US" dirty="0">
              <a:solidFill>
                <a:schemeClr val="bg1"/>
              </a:solidFill>
            </a:endParaRPr>
          </a:p>
          <a:p>
            <a:pPr algn="l"/>
            <a:r>
              <a:rPr lang="en-US" sz="4000" dirty="0">
                <a:solidFill>
                  <a:schemeClr val="bg1"/>
                </a:solidFill>
              </a:rPr>
              <a:t>What is traffic?</a:t>
            </a:r>
          </a:p>
          <a:p>
            <a:pPr algn="l"/>
            <a:endParaRPr lang="en-US" dirty="0">
              <a:solidFill>
                <a:schemeClr val="bg1"/>
              </a:solidFill>
            </a:endParaRPr>
          </a:p>
          <a:p>
            <a:pPr algn="l"/>
            <a:r>
              <a:rPr lang="en-US" dirty="0">
                <a:solidFill>
                  <a:schemeClr val="bg1"/>
                </a:solidFill>
              </a:rPr>
              <a:t>Traffic refers to the movement of vehicles, people, or goods along roads or pathways. It includes cars, buses, bikes, and pedestrians traveling from one place to another. Proper traffic flow is important to avoid congestion and ensure safety.</a:t>
            </a:r>
          </a:p>
        </p:txBody>
      </p:sp>
      <p:pic>
        <p:nvPicPr>
          <p:cNvPr id="4" name="Picture 3">
            <a:extLst>
              <a:ext uri="{FF2B5EF4-FFF2-40B4-BE49-F238E27FC236}">
                <a16:creationId xmlns:a16="http://schemas.microsoft.com/office/drawing/2014/main" id="{2022817A-DD50-E21E-B029-033E5C47592A}"/>
              </a:ext>
            </a:extLst>
          </p:cNvPr>
          <p:cNvPicPr>
            <a:picLocks noChangeAspect="1"/>
          </p:cNvPicPr>
          <p:nvPr/>
        </p:nvPicPr>
        <p:blipFill>
          <a:blip r:embed="rId3"/>
          <a:stretch>
            <a:fillRect/>
          </a:stretch>
        </p:blipFill>
        <p:spPr>
          <a:xfrm>
            <a:off x="4436467" y="3316921"/>
            <a:ext cx="3776869" cy="3378439"/>
          </a:xfrm>
          <a:prstGeom prst="rect">
            <a:avLst/>
          </a:prstGeom>
        </p:spPr>
      </p:pic>
    </p:spTree>
    <p:extLst>
      <p:ext uri="{BB962C8B-B14F-4D97-AF65-F5344CB8AC3E}">
        <p14:creationId xmlns:p14="http://schemas.microsoft.com/office/powerpoint/2010/main" val="23017190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A49D34D-B390-28B1-E095-1700AC0A028B}"/>
              </a:ext>
            </a:extLst>
          </p:cNvPr>
          <p:cNvPicPr>
            <a:picLocks noChangeAspect="1"/>
          </p:cNvPicPr>
          <p:nvPr/>
        </p:nvPicPr>
        <p:blipFill>
          <a:blip r:embed="rId2"/>
          <a:stretch>
            <a:fillRect/>
          </a:stretch>
        </p:blipFill>
        <p:spPr>
          <a:xfrm>
            <a:off x="0" y="0"/>
            <a:ext cx="9144000" cy="6858000"/>
          </a:xfrm>
          <a:prstGeom prst="rect">
            <a:avLst/>
          </a:prstGeom>
        </p:spPr>
      </p:pic>
      <p:sp>
        <p:nvSpPr>
          <p:cNvPr id="3" name="TextBox 2">
            <a:extLst>
              <a:ext uri="{FF2B5EF4-FFF2-40B4-BE49-F238E27FC236}">
                <a16:creationId xmlns:a16="http://schemas.microsoft.com/office/drawing/2014/main" id="{16514B7B-C34C-E308-268C-A322A09F487E}"/>
              </a:ext>
            </a:extLst>
          </p:cNvPr>
          <p:cNvSpPr txBox="1"/>
          <p:nvPr/>
        </p:nvSpPr>
        <p:spPr>
          <a:xfrm>
            <a:off x="551169" y="847538"/>
            <a:ext cx="6912214" cy="4370427"/>
          </a:xfrm>
          <a:prstGeom prst="rect">
            <a:avLst/>
          </a:prstGeom>
          <a:noFill/>
        </p:spPr>
        <p:txBody>
          <a:bodyPr wrap="square" rtlCol="0">
            <a:spAutoFit/>
          </a:bodyPr>
          <a:lstStyle/>
          <a:p>
            <a:pPr algn="l"/>
            <a:endParaRPr lang="en-US" dirty="0">
              <a:solidFill>
                <a:schemeClr val="bg1"/>
              </a:solidFill>
            </a:endParaRPr>
          </a:p>
          <a:p>
            <a:pPr algn="l"/>
            <a:r>
              <a:rPr lang="en-US" sz="4000" dirty="0">
                <a:solidFill>
                  <a:schemeClr val="bg1"/>
                </a:solidFill>
              </a:rPr>
              <a:t>How traffic harms us &amp;</a:t>
            </a:r>
          </a:p>
          <a:p>
            <a:pPr algn="l"/>
            <a:r>
              <a:rPr lang="en-US" sz="4000" dirty="0">
                <a:solidFill>
                  <a:schemeClr val="bg1"/>
                </a:solidFill>
              </a:rPr>
              <a:t>Affects our daily life?</a:t>
            </a:r>
          </a:p>
          <a:p>
            <a:pPr algn="l"/>
            <a:endParaRPr lang="en-US" dirty="0">
              <a:solidFill>
                <a:schemeClr val="bg1"/>
              </a:solidFill>
            </a:endParaRPr>
          </a:p>
          <a:p>
            <a:pPr algn="l"/>
            <a:r>
              <a:rPr lang="en-US" dirty="0">
                <a:solidFill>
                  <a:schemeClr val="bg1"/>
                </a:solidFill>
              </a:rPr>
              <a:t>Traffic problems affects our lives in various ways – 
1. It wastes our travel time .
2. It wastes fuels and our energy . 
3. It makes us feel depressed and creates emotional trauma. 
4. It leads to too much honking of horns and creates sound pollution 
5. It creates a global threat as it damages our air and damages the balance  of our ecosystem . 
6. Results in increased in death rates of the people , as it can be a threat in case of any emergency.</a:t>
            </a:r>
          </a:p>
        </p:txBody>
      </p:sp>
    </p:spTree>
    <p:extLst>
      <p:ext uri="{BB962C8B-B14F-4D97-AF65-F5344CB8AC3E}">
        <p14:creationId xmlns:p14="http://schemas.microsoft.com/office/powerpoint/2010/main" val="262361575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691485C-29D2-4B2E-A5F4-47887CDE02FE}"/>
              </a:ext>
            </a:extLst>
          </p:cNvPr>
          <p:cNvPicPr>
            <a:picLocks noChangeAspect="1"/>
          </p:cNvPicPr>
          <p:nvPr/>
        </p:nvPicPr>
        <p:blipFill>
          <a:blip r:embed="rId2"/>
          <a:stretch>
            <a:fillRect/>
          </a:stretch>
        </p:blipFill>
        <p:spPr>
          <a:xfrm>
            <a:off x="0" y="1856"/>
            <a:ext cx="9143999" cy="6856144"/>
          </a:xfrm>
          <a:prstGeom prst="rect">
            <a:avLst/>
          </a:prstGeom>
        </p:spPr>
      </p:pic>
      <p:sp>
        <p:nvSpPr>
          <p:cNvPr id="3" name="TextBox 2">
            <a:extLst>
              <a:ext uri="{FF2B5EF4-FFF2-40B4-BE49-F238E27FC236}">
                <a16:creationId xmlns:a16="http://schemas.microsoft.com/office/drawing/2014/main" id="{E819A35C-1662-1189-69F2-46E6D50A6C82}"/>
              </a:ext>
            </a:extLst>
          </p:cNvPr>
          <p:cNvSpPr txBox="1"/>
          <p:nvPr/>
        </p:nvSpPr>
        <p:spPr>
          <a:xfrm>
            <a:off x="758988" y="1190003"/>
            <a:ext cx="6198403" cy="4093428"/>
          </a:xfrm>
          <a:prstGeom prst="rect">
            <a:avLst/>
          </a:prstGeom>
          <a:noFill/>
        </p:spPr>
        <p:txBody>
          <a:bodyPr wrap="square" rtlCol="0">
            <a:spAutoFit/>
          </a:bodyPr>
          <a:lstStyle/>
          <a:p>
            <a:pPr algn="l"/>
            <a:r>
              <a:rPr lang="en-US" sz="4000" dirty="0">
                <a:solidFill>
                  <a:schemeClr val="bg1"/>
                </a:solidFill>
              </a:rPr>
              <a:t>What we want to solve?</a:t>
            </a:r>
          </a:p>
          <a:p>
            <a:pPr algn="l"/>
            <a:endParaRPr lang="en-US" sz="2000" dirty="0">
              <a:solidFill>
                <a:schemeClr val="bg1"/>
              </a:solidFill>
            </a:endParaRPr>
          </a:p>
          <a:p>
            <a:pPr marL="457200" indent="-457200" algn="l">
              <a:buAutoNum type="arabicPeriod"/>
            </a:pPr>
            <a:r>
              <a:rPr lang="en-US" sz="2000" dirty="0">
                <a:solidFill>
                  <a:schemeClr val="bg1"/>
                </a:solidFill>
              </a:rPr>
              <a:t>We want to reduce heavy traffic congestion on busy roads.
We aim to save time and make travel smoother for people.
We want to lower fuel wastage and pollution caused by traffic jams.
We aim to improve road safety and overall transportation efficiency.</a:t>
            </a:r>
          </a:p>
          <a:p>
            <a:pPr marL="457200" indent="-457200" algn="l">
              <a:buAutoNum type="arabicPeriod"/>
            </a:pPr>
            <a:r>
              <a:rPr lang="en-US" sz="2000" dirty="0">
                <a:solidFill>
                  <a:schemeClr val="bg1"/>
                </a:solidFill>
              </a:rPr>
              <a:t>We want to monitor the physical and mental state of the  people and to reduce  their stress level</a:t>
            </a:r>
          </a:p>
        </p:txBody>
      </p:sp>
    </p:spTree>
    <p:extLst>
      <p:ext uri="{BB962C8B-B14F-4D97-AF65-F5344CB8AC3E}">
        <p14:creationId xmlns:p14="http://schemas.microsoft.com/office/powerpoint/2010/main" val="325943390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AD6EEF9-B0B8-CA81-4A2D-D853FA355759}"/>
              </a:ext>
            </a:extLst>
          </p:cNvPr>
          <p:cNvPicPr>
            <a:picLocks noChangeAspect="1"/>
          </p:cNvPicPr>
          <p:nvPr/>
        </p:nvPicPr>
        <p:blipFill>
          <a:blip r:embed="rId2"/>
          <a:stretch>
            <a:fillRect/>
          </a:stretch>
        </p:blipFill>
        <p:spPr>
          <a:xfrm>
            <a:off x="0" y="-1"/>
            <a:ext cx="9144000" cy="6794751"/>
          </a:xfrm>
          <a:prstGeom prst="rect">
            <a:avLst/>
          </a:prstGeom>
        </p:spPr>
      </p:pic>
      <p:sp>
        <p:nvSpPr>
          <p:cNvPr id="3" name="TextBox 2">
            <a:extLst>
              <a:ext uri="{FF2B5EF4-FFF2-40B4-BE49-F238E27FC236}">
                <a16:creationId xmlns:a16="http://schemas.microsoft.com/office/drawing/2014/main" id="{6F74E18C-9E42-88E6-6576-66782D6A965A}"/>
              </a:ext>
            </a:extLst>
          </p:cNvPr>
          <p:cNvSpPr txBox="1"/>
          <p:nvPr/>
        </p:nvSpPr>
        <p:spPr>
          <a:xfrm>
            <a:off x="270433" y="1104438"/>
            <a:ext cx="5927336" cy="4585871"/>
          </a:xfrm>
          <a:prstGeom prst="rect">
            <a:avLst/>
          </a:prstGeom>
          <a:noFill/>
        </p:spPr>
        <p:txBody>
          <a:bodyPr wrap="square" rtlCol="0">
            <a:spAutoFit/>
          </a:bodyPr>
          <a:lstStyle/>
          <a:p>
            <a:pPr algn="l"/>
            <a:r>
              <a:rPr lang="en-US" sz="4000" dirty="0">
                <a:solidFill>
                  <a:schemeClr val="bg1"/>
                </a:solidFill>
              </a:rPr>
              <a:t>About our Website</a:t>
            </a:r>
          </a:p>
          <a:p>
            <a:pPr algn="l"/>
            <a:r>
              <a:rPr lang="en-US" dirty="0"/>
              <a:t> 
</a:t>
            </a:r>
            <a:r>
              <a:rPr lang="en-US" dirty="0">
                <a:solidFill>
                  <a:schemeClr val="bg1"/>
                </a:solidFill>
              </a:rPr>
              <a:t>1. It will help to connect with the mobiles and smart watches of the people and maintain their heart rate and their stress level .
2. In case of over speeding it would help to give notification to the police and to the family members and will make the driver more responsible
3. Our website also would help to contact to the police ,  recovery vehicles and the Ambulance for instant 
4. Our website would making focus to control the stress and the physical health of the people . 
5. This website system is works with government that it can work on a very large scale then it can save the lives of millions of the people .</a:t>
            </a:r>
          </a:p>
        </p:txBody>
      </p:sp>
      <p:pic>
        <p:nvPicPr>
          <p:cNvPr id="4" name="Picture 3">
            <a:extLst>
              <a:ext uri="{FF2B5EF4-FFF2-40B4-BE49-F238E27FC236}">
                <a16:creationId xmlns:a16="http://schemas.microsoft.com/office/drawing/2014/main" id="{11211B8A-5A90-3574-6796-85C53D2D3F2C}"/>
              </a:ext>
            </a:extLst>
          </p:cNvPr>
          <p:cNvPicPr>
            <a:picLocks noChangeAspect="1"/>
          </p:cNvPicPr>
          <p:nvPr/>
        </p:nvPicPr>
        <p:blipFill>
          <a:blip r:embed="rId3"/>
          <a:stretch>
            <a:fillRect/>
          </a:stretch>
        </p:blipFill>
        <p:spPr>
          <a:xfrm>
            <a:off x="6361044" y="2150467"/>
            <a:ext cx="2312158" cy="2231786"/>
          </a:xfrm>
          <a:prstGeom prst="rect">
            <a:avLst/>
          </a:prstGeom>
        </p:spPr>
      </p:pic>
    </p:spTree>
    <p:extLst>
      <p:ext uri="{BB962C8B-B14F-4D97-AF65-F5344CB8AC3E}">
        <p14:creationId xmlns:p14="http://schemas.microsoft.com/office/powerpoint/2010/main" val="397372100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426D12B-8F7D-CBE5-41A8-B3F61BD36FD8}"/>
              </a:ext>
            </a:extLst>
          </p:cNvPr>
          <p:cNvPicPr>
            <a:picLocks noChangeAspect="1"/>
          </p:cNvPicPr>
          <p:nvPr/>
        </p:nvPicPr>
        <p:blipFill>
          <a:blip r:embed="rId2"/>
          <a:stretch>
            <a:fillRect/>
          </a:stretch>
        </p:blipFill>
        <p:spPr>
          <a:xfrm>
            <a:off x="1" y="0"/>
            <a:ext cx="9144000" cy="6858000"/>
          </a:xfrm>
          <a:prstGeom prst="rect">
            <a:avLst/>
          </a:prstGeom>
        </p:spPr>
      </p:pic>
      <p:sp>
        <p:nvSpPr>
          <p:cNvPr id="3" name="TextBox 2">
            <a:extLst>
              <a:ext uri="{FF2B5EF4-FFF2-40B4-BE49-F238E27FC236}">
                <a16:creationId xmlns:a16="http://schemas.microsoft.com/office/drawing/2014/main" id="{A6838D41-90A6-9025-9E91-54BD4683E70A}"/>
              </a:ext>
            </a:extLst>
          </p:cNvPr>
          <p:cNvSpPr txBox="1"/>
          <p:nvPr/>
        </p:nvSpPr>
        <p:spPr>
          <a:xfrm>
            <a:off x="311727" y="350581"/>
            <a:ext cx="7296225" cy="3724096"/>
          </a:xfrm>
          <a:prstGeom prst="rect">
            <a:avLst/>
          </a:prstGeom>
          <a:noFill/>
        </p:spPr>
        <p:txBody>
          <a:bodyPr wrap="square" rtlCol="0">
            <a:spAutoFit/>
          </a:bodyPr>
          <a:lstStyle/>
          <a:p>
            <a:pPr algn="l"/>
            <a:r>
              <a:rPr lang="en-US" sz="3600" dirty="0">
                <a:solidFill>
                  <a:schemeClr val="bg1"/>
                </a:solidFill>
              </a:rPr>
              <a:t>How it will help and work</a:t>
            </a:r>
          </a:p>
          <a:p>
            <a:pPr algn="l"/>
            <a:r>
              <a:rPr lang="en-US" sz="2000" dirty="0">
                <a:solidFill>
                  <a:schemeClr val="bg1"/>
                </a:solidFill>
              </a:rPr>
              <a:t>
1. The website tracks heart rate and stress levels through mobile and smart watches.
2. It alerts the driver if stress is high to prevent unsafe driving.
3. If over speeding occurs, it sends notifications to police and family members.
4. In emergencies, it automatically contacts ambulance, police, and recovery vehicles.
5. If it collabs with the government then it can work  on a large scale to save many  lives.</a:t>
            </a:r>
            <a:endParaRPr lang="en-US" sz="3600" dirty="0">
              <a:solidFill>
                <a:schemeClr val="bg1"/>
              </a:solidFill>
            </a:endParaRPr>
          </a:p>
        </p:txBody>
      </p:sp>
      <p:pic>
        <p:nvPicPr>
          <p:cNvPr id="5" name="Picture 4">
            <a:extLst>
              <a:ext uri="{FF2B5EF4-FFF2-40B4-BE49-F238E27FC236}">
                <a16:creationId xmlns:a16="http://schemas.microsoft.com/office/drawing/2014/main" id="{B6928ECA-28DC-F77A-3306-D5A120BF00A6}"/>
              </a:ext>
            </a:extLst>
          </p:cNvPr>
          <p:cNvPicPr>
            <a:picLocks noChangeAspect="1"/>
          </p:cNvPicPr>
          <p:nvPr/>
        </p:nvPicPr>
        <p:blipFill>
          <a:blip r:embed="rId3"/>
          <a:stretch>
            <a:fillRect/>
          </a:stretch>
        </p:blipFill>
        <p:spPr>
          <a:xfrm>
            <a:off x="397564" y="4264791"/>
            <a:ext cx="3758799" cy="2430570"/>
          </a:xfrm>
          <a:prstGeom prst="rect">
            <a:avLst/>
          </a:prstGeom>
          <a:effectLst>
            <a:innerShdw blurRad="63500" dist="101600" dir="16200000">
              <a:prstClr val="black">
                <a:alpha val="50000"/>
              </a:prstClr>
            </a:innerShdw>
          </a:effectLst>
        </p:spPr>
      </p:pic>
      <p:pic>
        <p:nvPicPr>
          <p:cNvPr id="6" name="Picture 5">
            <a:extLst>
              <a:ext uri="{FF2B5EF4-FFF2-40B4-BE49-F238E27FC236}">
                <a16:creationId xmlns:a16="http://schemas.microsoft.com/office/drawing/2014/main" id="{4B2D1810-0D17-9E5A-29A9-E4AD727F69B4}"/>
              </a:ext>
            </a:extLst>
          </p:cNvPr>
          <p:cNvPicPr>
            <a:picLocks noChangeAspect="1"/>
          </p:cNvPicPr>
          <p:nvPr/>
        </p:nvPicPr>
        <p:blipFill>
          <a:blip r:embed="rId4"/>
          <a:stretch>
            <a:fillRect/>
          </a:stretch>
        </p:blipFill>
        <p:spPr>
          <a:xfrm>
            <a:off x="5087028" y="4264790"/>
            <a:ext cx="3849154" cy="2430570"/>
          </a:xfrm>
          <a:prstGeom prst="rect">
            <a:avLst/>
          </a:prstGeom>
        </p:spPr>
      </p:pic>
    </p:spTree>
    <p:extLst>
      <p:ext uri="{BB962C8B-B14F-4D97-AF65-F5344CB8AC3E}">
        <p14:creationId xmlns:p14="http://schemas.microsoft.com/office/powerpoint/2010/main" val="46842951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2807A51-CD96-4B54-A805-200F62F8B7BE}"/>
              </a:ext>
            </a:extLst>
          </p:cNvPr>
          <p:cNvPicPr>
            <a:picLocks noChangeAspect="1"/>
          </p:cNvPicPr>
          <p:nvPr/>
        </p:nvPicPr>
        <p:blipFill>
          <a:blip r:embed="rId2"/>
          <a:stretch>
            <a:fillRect/>
          </a:stretch>
        </p:blipFill>
        <p:spPr>
          <a:xfrm>
            <a:off x="0" y="0"/>
            <a:ext cx="9144000" cy="6858000"/>
          </a:xfrm>
          <a:prstGeom prst="rect">
            <a:avLst/>
          </a:prstGeom>
        </p:spPr>
      </p:pic>
      <p:sp>
        <p:nvSpPr>
          <p:cNvPr id="3" name="TextBox 2">
            <a:extLst>
              <a:ext uri="{FF2B5EF4-FFF2-40B4-BE49-F238E27FC236}">
                <a16:creationId xmlns:a16="http://schemas.microsoft.com/office/drawing/2014/main" id="{0CDC3A0E-DA03-9473-3D1E-69C7AD41A88E}"/>
              </a:ext>
            </a:extLst>
          </p:cNvPr>
          <p:cNvSpPr txBox="1"/>
          <p:nvPr/>
        </p:nvSpPr>
        <p:spPr>
          <a:xfrm>
            <a:off x="768024" y="948735"/>
            <a:ext cx="7526632" cy="3170099"/>
          </a:xfrm>
          <a:prstGeom prst="rect">
            <a:avLst/>
          </a:prstGeom>
          <a:noFill/>
        </p:spPr>
        <p:txBody>
          <a:bodyPr wrap="square" rtlCol="0">
            <a:spAutoFit/>
          </a:bodyPr>
          <a:lstStyle/>
          <a:p>
            <a:pPr algn="l"/>
            <a:r>
              <a:rPr lang="en-US" sz="4000" dirty="0">
                <a:solidFill>
                  <a:schemeClr val="bg1"/>
                </a:solidFill>
              </a:rPr>
              <a:t>Who will it help?</a:t>
            </a:r>
          </a:p>
          <a:p>
            <a:pPr algn="l"/>
            <a:endParaRPr lang="en-US" sz="4000" dirty="0">
              <a:solidFill>
                <a:schemeClr val="bg1"/>
              </a:solidFill>
            </a:endParaRPr>
          </a:p>
          <a:p>
            <a:pPr algn="l"/>
            <a:r>
              <a:rPr lang="en-US" sz="2000" dirty="0">
                <a:solidFill>
                  <a:schemeClr val="bg1"/>
                </a:solidFill>
              </a:rPr>
              <a:t>1. </a:t>
            </a:r>
            <a:r>
              <a:rPr lang="en-US" sz="2000" u="sng" dirty="0">
                <a:solidFill>
                  <a:schemeClr val="bg1"/>
                </a:solidFill>
              </a:rPr>
              <a:t>Drivers</a:t>
            </a:r>
            <a:r>
              <a:rPr lang="en-US" sz="2000" dirty="0">
                <a:solidFill>
                  <a:schemeClr val="bg1"/>
                </a:solidFill>
              </a:rPr>
              <a:t> – by improving health awareness and preventing accidents , constant monitoring would make them more responsible . 
2. </a:t>
            </a:r>
            <a:r>
              <a:rPr lang="en-US" sz="2000" u="sng" dirty="0">
                <a:solidFill>
                  <a:schemeClr val="bg1"/>
                </a:solidFill>
              </a:rPr>
              <a:t>Families</a:t>
            </a:r>
            <a:r>
              <a:rPr lang="en-US" sz="2000" dirty="0">
                <a:solidFill>
                  <a:schemeClr val="bg1"/>
                </a:solidFill>
              </a:rPr>
              <a:t> – by keeping them informed and ensuring their loved ones are safe.
3. </a:t>
            </a:r>
            <a:r>
              <a:rPr lang="en-US" sz="2000" u="sng" dirty="0">
                <a:solidFill>
                  <a:schemeClr val="bg1"/>
                </a:solidFill>
              </a:rPr>
              <a:t>Government &amp; Traffic Authorities</a:t>
            </a:r>
            <a:r>
              <a:rPr lang="en-US" sz="2000" dirty="0">
                <a:solidFill>
                  <a:schemeClr val="bg1"/>
                </a:solidFill>
              </a:rPr>
              <a:t> – by reducing accidents and improving road safety management.</a:t>
            </a:r>
          </a:p>
        </p:txBody>
      </p:sp>
    </p:spTree>
    <p:extLst>
      <p:ext uri="{BB962C8B-B14F-4D97-AF65-F5344CB8AC3E}">
        <p14:creationId xmlns:p14="http://schemas.microsoft.com/office/powerpoint/2010/main" val="256342647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C0ACB66-F983-50D9-6E23-33464FD5DBF6}"/>
              </a:ext>
            </a:extLst>
          </p:cNvPr>
          <p:cNvPicPr>
            <a:picLocks noChangeAspect="1"/>
          </p:cNvPicPr>
          <p:nvPr/>
        </p:nvPicPr>
        <p:blipFill>
          <a:blip r:embed="rId2"/>
          <a:stretch>
            <a:fillRect/>
          </a:stretch>
        </p:blipFill>
        <p:spPr>
          <a:xfrm>
            <a:off x="-50414" y="0"/>
            <a:ext cx="9144000" cy="6858000"/>
          </a:xfrm>
          <a:prstGeom prst="rect">
            <a:avLst/>
          </a:prstGeom>
        </p:spPr>
      </p:pic>
      <p:sp>
        <p:nvSpPr>
          <p:cNvPr id="3" name="TextBox 2">
            <a:extLst>
              <a:ext uri="{FF2B5EF4-FFF2-40B4-BE49-F238E27FC236}">
                <a16:creationId xmlns:a16="http://schemas.microsoft.com/office/drawing/2014/main" id="{E0AFB2D9-6939-C2E3-8AD5-733CA65E5453}"/>
              </a:ext>
            </a:extLst>
          </p:cNvPr>
          <p:cNvSpPr txBox="1"/>
          <p:nvPr/>
        </p:nvSpPr>
        <p:spPr>
          <a:xfrm>
            <a:off x="365941" y="1186371"/>
            <a:ext cx="8412118" cy="4708981"/>
          </a:xfrm>
          <a:prstGeom prst="rect">
            <a:avLst/>
          </a:prstGeom>
          <a:noFill/>
        </p:spPr>
        <p:txBody>
          <a:bodyPr wrap="square" rtlCol="0">
            <a:spAutoFit/>
          </a:bodyPr>
          <a:lstStyle/>
          <a:p>
            <a:pPr algn="l"/>
            <a:r>
              <a:rPr lang="en-US" sz="4000" dirty="0">
                <a:solidFill>
                  <a:schemeClr val="bg1"/>
                </a:solidFill>
              </a:rPr>
              <a:t>Impact in a long run</a:t>
            </a:r>
          </a:p>
          <a:p>
            <a:pPr algn="l"/>
            <a:endParaRPr lang="en-US" sz="4000" dirty="0">
              <a:solidFill>
                <a:schemeClr val="bg1"/>
              </a:solidFill>
            </a:endParaRPr>
          </a:p>
          <a:p>
            <a:pPr algn="l"/>
            <a:r>
              <a:rPr lang="en-US" dirty="0">
                <a:solidFill>
                  <a:schemeClr val="bg1"/>
                </a:solidFill>
              </a:rPr>
              <a:t>1. </a:t>
            </a:r>
            <a:r>
              <a:rPr lang="en-US" u="sng" dirty="0">
                <a:solidFill>
                  <a:schemeClr val="bg1"/>
                </a:solidFill>
              </a:rPr>
              <a:t>Reduction in Road Accidents</a:t>
            </a:r>
            <a:r>
              <a:rPr lang="en-US" dirty="0">
                <a:solidFill>
                  <a:schemeClr val="bg1"/>
                </a:solidFill>
              </a:rPr>
              <a:t>: With real-time monitoring and emergency alerts, the number of accidents will decrease significantly, making roads safer.
2. </a:t>
            </a:r>
            <a:r>
              <a:rPr lang="en-US" u="sng" dirty="0">
                <a:solidFill>
                  <a:schemeClr val="bg1"/>
                </a:solidFill>
              </a:rPr>
              <a:t>Improved Public Health</a:t>
            </a:r>
            <a:r>
              <a:rPr lang="en-US" dirty="0">
                <a:solidFill>
                  <a:schemeClr val="bg1"/>
                </a:solidFill>
              </a:rPr>
              <a:t>: Continuous stress and heart-rate monitoring will encourage healthier driving habits and reduce health-related driving risks.
3. </a:t>
            </a:r>
            <a:r>
              <a:rPr lang="en-US" u="sng" dirty="0">
                <a:solidFill>
                  <a:schemeClr val="bg1"/>
                </a:solidFill>
              </a:rPr>
              <a:t>Stronger Safety Network</a:t>
            </a:r>
            <a:r>
              <a:rPr lang="en-US" dirty="0">
                <a:solidFill>
                  <a:schemeClr val="bg1"/>
                </a:solidFill>
              </a:rPr>
              <a:t>: Quick coordination between police, ambulances, and recovery vehicles will create a more efficient emergency response system.
4. </a:t>
            </a:r>
            <a:r>
              <a:rPr lang="en-US" u="sng" dirty="0">
                <a:solidFill>
                  <a:schemeClr val="bg1"/>
                </a:solidFill>
              </a:rPr>
              <a:t>Safer</a:t>
            </a:r>
            <a:r>
              <a:rPr lang="en-US" dirty="0">
                <a:solidFill>
                  <a:schemeClr val="bg1"/>
                </a:solidFill>
              </a:rPr>
              <a:t> </a:t>
            </a:r>
            <a:r>
              <a:rPr lang="en-US" u="sng" dirty="0">
                <a:solidFill>
                  <a:schemeClr val="bg1"/>
                </a:solidFill>
              </a:rPr>
              <a:t>and</a:t>
            </a:r>
            <a:r>
              <a:rPr lang="en-US" dirty="0">
                <a:solidFill>
                  <a:schemeClr val="bg1"/>
                </a:solidFill>
              </a:rPr>
              <a:t> </a:t>
            </a:r>
            <a:r>
              <a:rPr lang="en-US" u="sng" dirty="0">
                <a:solidFill>
                  <a:schemeClr val="bg1"/>
                </a:solidFill>
              </a:rPr>
              <a:t>More</a:t>
            </a:r>
            <a:r>
              <a:rPr lang="en-US" dirty="0">
                <a:solidFill>
                  <a:schemeClr val="bg1"/>
                </a:solidFill>
              </a:rPr>
              <a:t> </a:t>
            </a:r>
            <a:r>
              <a:rPr lang="en-US" u="sng" dirty="0">
                <a:solidFill>
                  <a:schemeClr val="bg1"/>
                </a:solidFill>
              </a:rPr>
              <a:t>Responsible</a:t>
            </a:r>
            <a:r>
              <a:rPr lang="en-US" dirty="0">
                <a:solidFill>
                  <a:schemeClr val="bg1"/>
                </a:solidFill>
              </a:rPr>
              <a:t> </a:t>
            </a:r>
            <a:r>
              <a:rPr lang="en-US" u="sng" dirty="0">
                <a:solidFill>
                  <a:schemeClr val="bg1"/>
                </a:solidFill>
              </a:rPr>
              <a:t>Driving</a:t>
            </a:r>
            <a:r>
              <a:rPr lang="en-US" dirty="0">
                <a:solidFill>
                  <a:schemeClr val="bg1"/>
                </a:solidFill>
              </a:rPr>
              <a:t> </a:t>
            </a:r>
            <a:r>
              <a:rPr lang="en-US" u="sng" dirty="0">
                <a:solidFill>
                  <a:schemeClr val="bg1"/>
                </a:solidFill>
              </a:rPr>
              <a:t>Culture</a:t>
            </a:r>
            <a:r>
              <a:rPr lang="en-US" dirty="0">
                <a:solidFill>
                  <a:schemeClr val="bg1"/>
                </a:solidFill>
              </a:rPr>
              <a:t>: Over time, drivers will become more cautious and responsible, leading to a disciplined traffic environment and fewer traffic violations.</a:t>
            </a:r>
          </a:p>
          <a:p>
            <a:pPr algn="l"/>
            <a:endParaRPr lang="en-US" sz="4000" dirty="0">
              <a:solidFill>
                <a:schemeClr val="bg1"/>
              </a:solidFill>
            </a:endParaRPr>
          </a:p>
          <a:p>
            <a:pPr algn="l"/>
            <a:endParaRPr lang="en-US" dirty="0">
              <a:solidFill>
                <a:schemeClr val="bg1"/>
              </a:solidFill>
            </a:endParaRPr>
          </a:p>
        </p:txBody>
      </p:sp>
    </p:spTree>
    <p:extLst>
      <p:ext uri="{BB962C8B-B14F-4D97-AF65-F5344CB8AC3E}">
        <p14:creationId xmlns:p14="http://schemas.microsoft.com/office/powerpoint/2010/main" val="13515057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3F68B20-D52D-C6B1-905A-6D739453BFA4}"/>
              </a:ext>
            </a:extLst>
          </p:cNvPr>
          <p:cNvPicPr>
            <a:picLocks noChangeAspect="1"/>
          </p:cNvPicPr>
          <p:nvPr/>
        </p:nvPicPr>
        <p:blipFill>
          <a:blip r:embed="rId2"/>
          <a:stretch>
            <a:fillRect/>
          </a:stretch>
        </p:blipFill>
        <p:spPr>
          <a:xfrm>
            <a:off x="0" y="0"/>
            <a:ext cx="9144000" cy="6858000"/>
          </a:xfrm>
          <a:prstGeom prst="rect">
            <a:avLst/>
          </a:prstGeom>
        </p:spPr>
      </p:pic>
      <p:sp>
        <p:nvSpPr>
          <p:cNvPr id="3" name="TextBox 2">
            <a:extLst>
              <a:ext uri="{FF2B5EF4-FFF2-40B4-BE49-F238E27FC236}">
                <a16:creationId xmlns:a16="http://schemas.microsoft.com/office/drawing/2014/main" id="{CAE2D89F-DF29-9A0C-7771-40988337D4C7}"/>
              </a:ext>
            </a:extLst>
          </p:cNvPr>
          <p:cNvSpPr txBox="1"/>
          <p:nvPr/>
        </p:nvSpPr>
        <p:spPr>
          <a:xfrm>
            <a:off x="153605" y="2031196"/>
            <a:ext cx="8249478" cy="4093428"/>
          </a:xfrm>
          <a:prstGeom prst="rect">
            <a:avLst/>
          </a:prstGeom>
          <a:noFill/>
        </p:spPr>
        <p:txBody>
          <a:bodyPr wrap="square" rtlCol="0">
            <a:spAutoFit/>
          </a:bodyPr>
          <a:lstStyle/>
          <a:p>
            <a:pPr algn="l"/>
            <a:r>
              <a:rPr lang="en-US" sz="4000" dirty="0">
                <a:solidFill>
                  <a:schemeClr val="bg1"/>
                </a:solidFill>
              </a:rPr>
              <a:t>Stability and Scalability </a:t>
            </a:r>
          </a:p>
          <a:p>
            <a:pPr algn="l"/>
            <a:endParaRPr lang="en-US" sz="2000" b="1" dirty="0">
              <a:solidFill>
                <a:schemeClr val="bg1"/>
              </a:solidFill>
            </a:endParaRPr>
          </a:p>
          <a:p>
            <a:pPr algn="l"/>
            <a:r>
              <a:rPr lang="en-US" sz="2000" b="1" u="sng" dirty="0">
                <a:solidFill>
                  <a:schemeClr val="bg1"/>
                </a:solidFill>
              </a:rPr>
              <a:t>Note</a:t>
            </a:r>
            <a:r>
              <a:rPr lang="en-US" sz="2000" dirty="0">
                <a:solidFill>
                  <a:schemeClr val="bg1"/>
                </a:solidFill>
              </a:rPr>
              <a:t>:- WE HAVE CURRENTLY MADE OUR WEBSITE ON A SMALLER SCALE . </a:t>
            </a:r>
          </a:p>
          <a:p>
            <a:pPr algn="l"/>
            <a:endParaRPr lang="en-US" sz="2000" dirty="0">
              <a:solidFill>
                <a:schemeClr val="bg1"/>
              </a:solidFill>
            </a:endParaRPr>
          </a:p>
          <a:p>
            <a:pPr algn="l"/>
            <a:r>
              <a:rPr lang="en-US" sz="2000" dirty="0">
                <a:solidFill>
                  <a:schemeClr val="bg1"/>
                </a:solidFill>
              </a:rPr>
              <a:t>1. Works smoothly even with high user traffic.
2. Uses secure and reliable cloud servers.
3. Can be updated easily without service interruption.
4. Supports integration with multiple devices (phones, watches, vehicles).
5. Can connect with government traffic systems on a large scale.
6. Handles real-time data processing efficiently.
7. Flexible to add new features in future.
8. Can expand to different regions with minor setup changes.</a:t>
            </a:r>
          </a:p>
        </p:txBody>
      </p:sp>
    </p:spTree>
    <p:extLst>
      <p:ext uri="{BB962C8B-B14F-4D97-AF65-F5344CB8AC3E}">
        <p14:creationId xmlns:p14="http://schemas.microsoft.com/office/powerpoint/2010/main" val="30174720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E8CF0B-1043-ADC6-A542-910024D7EAEC}"/>
              </a:ext>
            </a:extLst>
          </p:cNvPr>
          <p:cNvPicPr>
            <a:picLocks noChangeAspect="1"/>
          </p:cNvPicPr>
          <p:nvPr/>
        </p:nvPicPr>
        <p:blipFill>
          <a:blip r:embed="rId2"/>
          <a:stretch>
            <a:fillRect/>
          </a:stretch>
        </p:blipFill>
        <p:spPr>
          <a:xfrm>
            <a:off x="0" y="0"/>
            <a:ext cx="9144000" cy="6858000"/>
          </a:xfrm>
          <a:prstGeom prst="rect">
            <a:avLst/>
          </a:prstGeom>
        </p:spPr>
      </p:pic>
      <p:sp>
        <p:nvSpPr>
          <p:cNvPr id="3" name="TextBox 2">
            <a:extLst>
              <a:ext uri="{FF2B5EF4-FFF2-40B4-BE49-F238E27FC236}">
                <a16:creationId xmlns:a16="http://schemas.microsoft.com/office/drawing/2014/main" id="{1489A6C1-A4B2-97A6-05E0-F7C0433C5B76}"/>
              </a:ext>
            </a:extLst>
          </p:cNvPr>
          <p:cNvSpPr txBox="1"/>
          <p:nvPr/>
        </p:nvSpPr>
        <p:spPr>
          <a:xfrm>
            <a:off x="207352" y="135982"/>
            <a:ext cx="6524620" cy="2215991"/>
          </a:xfrm>
          <a:prstGeom prst="rect">
            <a:avLst/>
          </a:prstGeom>
          <a:noFill/>
        </p:spPr>
        <p:txBody>
          <a:bodyPr wrap="square" rtlCol="0">
            <a:spAutoFit/>
          </a:bodyPr>
          <a:lstStyle/>
          <a:p>
            <a:pPr algn="l"/>
            <a:r>
              <a:rPr lang="en-US" sz="4000" dirty="0">
                <a:solidFill>
                  <a:schemeClr val="bg1"/>
                </a:solidFill>
              </a:rPr>
              <a:t>Things we could fulfil &amp;</a:t>
            </a:r>
          </a:p>
          <a:p>
            <a:pPr algn="l"/>
            <a:r>
              <a:rPr lang="en-US" sz="4000" dirty="0">
                <a:solidFill>
                  <a:schemeClr val="bg1"/>
                </a:solidFill>
              </a:rPr>
              <a:t>Things we couldn’t fulfil</a:t>
            </a:r>
          </a:p>
          <a:p>
            <a:pPr algn="l"/>
            <a:endParaRPr lang="en-US" sz="4000" dirty="0">
              <a:solidFill>
                <a:schemeClr val="bg1"/>
              </a:solidFill>
            </a:endParaRPr>
          </a:p>
          <a:p>
            <a:pPr algn="l"/>
            <a:endParaRPr lang="en-US" dirty="0">
              <a:solidFill>
                <a:schemeClr val="bg1"/>
              </a:solidFill>
            </a:endParaRPr>
          </a:p>
        </p:txBody>
      </p:sp>
      <p:sp>
        <p:nvSpPr>
          <p:cNvPr id="9" name="TextBox 8">
            <a:extLst>
              <a:ext uri="{FF2B5EF4-FFF2-40B4-BE49-F238E27FC236}">
                <a16:creationId xmlns:a16="http://schemas.microsoft.com/office/drawing/2014/main" id="{F167E948-4D5A-B63E-365E-D0BFBFF6AEFB}"/>
              </a:ext>
            </a:extLst>
          </p:cNvPr>
          <p:cNvSpPr txBox="1"/>
          <p:nvPr/>
        </p:nvSpPr>
        <p:spPr>
          <a:xfrm>
            <a:off x="207352" y="2130406"/>
            <a:ext cx="3040107" cy="4524315"/>
          </a:xfrm>
          <a:prstGeom prst="rect">
            <a:avLst/>
          </a:prstGeom>
          <a:noFill/>
        </p:spPr>
        <p:txBody>
          <a:bodyPr wrap="square" rtlCol="0">
            <a:spAutoFit/>
          </a:bodyPr>
          <a:lstStyle/>
          <a:p>
            <a:pPr algn="l"/>
            <a:r>
              <a:rPr lang="en-US" dirty="0">
                <a:solidFill>
                  <a:schemeClr val="bg1"/>
                </a:solidFill>
              </a:rPr>
              <a:t>Things we could do:-</a:t>
            </a:r>
          </a:p>
          <a:p>
            <a:pPr algn="l"/>
            <a:endParaRPr lang="en-US" dirty="0">
              <a:solidFill>
                <a:schemeClr val="bg1"/>
              </a:solidFill>
            </a:endParaRPr>
          </a:p>
          <a:p>
            <a:pPr marL="342900" indent="-342900" algn="l">
              <a:buAutoNum type="arabicPeriod"/>
            </a:pPr>
            <a:r>
              <a:rPr lang="en-US" dirty="0">
                <a:solidFill>
                  <a:schemeClr val="bg1"/>
                </a:solidFill>
              </a:rPr>
              <a:t>We are able to attach the Open Street map , as a result we can track the traffic and the current location of our users </a:t>
            </a:r>
          </a:p>
          <a:p>
            <a:pPr marL="342900" indent="-342900" algn="l">
              <a:buAutoNum type="arabicPeriod"/>
            </a:pPr>
            <a:r>
              <a:rPr lang="en-US" dirty="0">
                <a:solidFill>
                  <a:schemeClr val="bg1"/>
                </a:solidFill>
              </a:rPr>
              <a:t> Now the people can call for help with just a click .</a:t>
            </a:r>
          </a:p>
          <a:p>
            <a:pPr marL="342900" indent="-342900" algn="l">
              <a:buAutoNum type="arabicPeriod"/>
            </a:pPr>
            <a:endParaRPr lang="en-US" dirty="0">
              <a:solidFill>
                <a:schemeClr val="bg1"/>
              </a:solidFill>
            </a:endParaRPr>
          </a:p>
          <a:p>
            <a:pPr marL="342900" indent="-342900" algn="l">
              <a:buAutoNum type="arabicPeriod"/>
            </a:pPr>
            <a:r>
              <a:rPr lang="en-US" dirty="0">
                <a:solidFill>
                  <a:schemeClr val="bg1"/>
                </a:solidFill>
              </a:rPr>
              <a:t> We can ensure more safety and since the traffic can be seen so it is easy for the traffic police to control the traffic . </a:t>
            </a:r>
          </a:p>
          <a:p>
            <a:pPr algn="l"/>
            <a:r>
              <a:rPr lang="en-US" dirty="0"/>
              <a:t>             </a:t>
            </a:r>
          </a:p>
        </p:txBody>
      </p:sp>
      <p:sp>
        <p:nvSpPr>
          <p:cNvPr id="10" name="TextBox 9">
            <a:extLst>
              <a:ext uri="{FF2B5EF4-FFF2-40B4-BE49-F238E27FC236}">
                <a16:creationId xmlns:a16="http://schemas.microsoft.com/office/drawing/2014/main" id="{E1D210E0-7ADC-B1A4-011F-9468CBA63D0E}"/>
              </a:ext>
            </a:extLst>
          </p:cNvPr>
          <p:cNvSpPr txBox="1"/>
          <p:nvPr/>
        </p:nvSpPr>
        <p:spPr>
          <a:xfrm>
            <a:off x="3820430" y="1687192"/>
            <a:ext cx="5323570" cy="3970318"/>
          </a:xfrm>
          <a:prstGeom prst="rect">
            <a:avLst/>
          </a:prstGeom>
          <a:noFill/>
        </p:spPr>
        <p:txBody>
          <a:bodyPr wrap="square" rtlCol="0">
            <a:spAutoFit/>
          </a:bodyPr>
          <a:lstStyle/>
          <a:p>
            <a:pPr algn="l"/>
            <a:r>
              <a:rPr lang="en-US" dirty="0">
                <a:solidFill>
                  <a:schemeClr val="bg1"/>
                </a:solidFill>
              </a:rPr>
              <a:t>Things which we could not do – </a:t>
            </a:r>
          </a:p>
          <a:p>
            <a:pPr marL="342900" indent="-342900" algn="l">
              <a:buAutoNum type="arabicPeriod"/>
            </a:pPr>
            <a:r>
              <a:rPr lang="en-US" dirty="0">
                <a:solidFill>
                  <a:schemeClr val="bg1"/>
                </a:solidFill>
              </a:rPr>
              <a:t>We were unable to get the API of Google maps so we have linked it with open Street maps , but it won’t affect the main purpose . </a:t>
            </a:r>
          </a:p>
          <a:p>
            <a:pPr algn="l"/>
            <a:r>
              <a:rPr lang="en-US" dirty="0">
                <a:solidFill>
                  <a:schemeClr val="bg1"/>
                </a:solidFill>
              </a:rPr>
              <a:t>2. Unfortunately, we were not able to make a speed tracker because for that we will have to make another device . </a:t>
            </a:r>
            <a:endParaRPr lang="en-US" dirty="0"/>
          </a:p>
          <a:p>
            <a:pPr algn="l"/>
            <a:r>
              <a:rPr lang="en-US" dirty="0"/>
              <a:t> </a:t>
            </a:r>
            <a:r>
              <a:rPr lang="en-US" dirty="0">
                <a:solidFill>
                  <a:schemeClr val="bg1"/>
                </a:solidFill>
              </a:rPr>
              <a:t>3. We were not able to maintain the health record , because normal smart watches are capable of doing that .</a:t>
            </a:r>
          </a:p>
          <a:p>
            <a:pPr algn="l"/>
            <a:endParaRPr lang="en-US" dirty="0">
              <a:solidFill>
                <a:schemeClr val="bg1"/>
              </a:solidFill>
            </a:endParaRPr>
          </a:p>
          <a:p>
            <a:pPr algn="l"/>
            <a:r>
              <a:rPr lang="en-US" dirty="0">
                <a:solidFill>
                  <a:schemeClr val="bg1"/>
                </a:solidFill>
              </a:rPr>
              <a:t>  </a:t>
            </a:r>
            <a:r>
              <a:rPr lang="en-US" dirty="0">
                <a:solidFill>
                  <a:schemeClr val="accent6">
                    <a:lumMod val="20000"/>
                    <a:lumOff val="80000"/>
                  </a:schemeClr>
                </a:solidFill>
              </a:rPr>
              <a:t>     </a:t>
            </a:r>
            <a:r>
              <a:rPr lang="en-US" sz="3600" dirty="0">
                <a:solidFill>
                  <a:schemeClr val="accent6">
                    <a:lumMod val="20000"/>
                    <a:lumOff val="80000"/>
                  </a:schemeClr>
                </a:solidFill>
              </a:rPr>
              <a:t>Sorry for inconveniences</a:t>
            </a:r>
            <a:endParaRPr lang="en-US" sz="3600" dirty="0"/>
          </a:p>
          <a:p>
            <a:pPr algn="l"/>
            <a:endParaRPr lang="en-US" dirty="0"/>
          </a:p>
        </p:txBody>
      </p:sp>
    </p:spTree>
    <p:extLst>
      <p:ext uri="{BB962C8B-B14F-4D97-AF65-F5344CB8AC3E}">
        <p14:creationId xmlns:p14="http://schemas.microsoft.com/office/powerpoint/2010/main" val="52369932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E2B4074-5ACF-CB7A-A665-E88702E237F8}"/>
              </a:ext>
            </a:extLst>
          </p:cNvPr>
          <p:cNvPicPr>
            <a:picLocks noChangeAspect="1"/>
          </p:cNvPicPr>
          <p:nvPr/>
        </p:nvPicPr>
        <p:blipFill>
          <a:blip r:embed="rId2"/>
          <a:stretch>
            <a:fillRect/>
          </a:stretch>
        </p:blipFill>
        <p:spPr>
          <a:xfrm>
            <a:off x="0" y="0"/>
            <a:ext cx="9144000" cy="6858000"/>
          </a:xfrm>
          <a:prstGeom prst="rect">
            <a:avLst/>
          </a:prstGeom>
        </p:spPr>
      </p:pic>
      <p:sp>
        <p:nvSpPr>
          <p:cNvPr id="3" name="TextBox 2">
            <a:extLst>
              <a:ext uri="{FF2B5EF4-FFF2-40B4-BE49-F238E27FC236}">
                <a16:creationId xmlns:a16="http://schemas.microsoft.com/office/drawing/2014/main" id="{C38F1850-2075-260B-4788-A11465ABEA74}"/>
              </a:ext>
            </a:extLst>
          </p:cNvPr>
          <p:cNvSpPr txBox="1"/>
          <p:nvPr/>
        </p:nvSpPr>
        <p:spPr>
          <a:xfrm>
            <a:off x="659597" y="974035"/>
            <a:ext cx="7129067" cy="4524315"/>
          </a:xfrm>
          <a:prstGeom prst="rect">
            <a:avLst/>
          </a:prstGeom>
          <a:noFill/>
        </p:spPr>
        <p:txBody>
          <a:bodyPr wrap="square" rtlCol="0">
            <a:spAutoFit/>
          </a:bodyPr>
          <a:lstStyle/>
          <a:p>
            <a:pPr algn="l"/>
            <a:r>
              <a:rPr lang="en-US" sz="5400" dirty="0">
                <a:solidFill>
                  <a:schemeClr val="bg1"/>
                </a:solidFill>
              </a:rPr>
              <a:t>Trail and Errors</a:t>
            </a:r>
          </a:p>
          <a:p>
            <a:pPr algn="l"/>
            <a:endParaRPr lang="en-US" sz="5400" dirty="0">
              <a:solidFill>
                <a:schemeClr val="bg1"/>
              </a:solidFill>
            </a:endParaRPr>
          </a:p>
          <a:p>
            <a:pPr marL="457200" indent="-457200" algn="l">
              <a:buAutoNum type="arabicPeriod"/>
            </a:pPr>
            <a:r>
              <a:rPr lang="en-US" sz="2000" dirty="0">
                <a:solidFill>
                  <a:schemeClr val="bg1"/>
                </a:solidFill>
              </a:rPr>
              <a:t>We tried  to get the API from Google maps but we were unable to do that so we had to take the API from open Street maps . </a:t>
            </a:r>
          </a:p>
          <a:p>
            <a:pPr marL="457200" indent="-457200" algn="l">
              <a:buAutoNum type="arabicPeriod"/>
            </a:pPr>
            <a:r>
              <a:rPr lang="en-US" sz="2000" dirty="0">
                <a:solidFill>
                  <a:schemeClr val="bg1"/>
                </a:solidFill>
              </a:rPr>
              <a:t>We have tried our level best to make maximum things success but out of our 5 main  goals we are able to make success on 3 goals . </a:t>
            </a:r>
          </a:p>
          <a:p>
            <a:pPr marL="457200" indent="-457200" algn="l">
              <a:buAutoNum type="arabicPeriod"/>
            </a:pPr>
            <a:r>
              <a:rPr lang="en-US" sz="2000" dirty="0">
                <a:solidFill>
                  <a:schemeClr val="bg1"/>
                </a:solidFill>
              </a:rPr>
              <a:t> Now if the webpage is a success that it can help all the people and make our lives more smooth and quick . </a:t>
            </a:r>
          </a:p>
          <a:p>
            <a:pPr marL="457200" indent="-457200" algn="l">
              <a:buAutoNum type="arabicPeriod"/>
            </a:pPr>
            <a:r>
              <a:rPr lang="en-US" sz="2000" dirty="0">
                <a:solidFill>
                  <a:schemeClr val="bg1"/>
                </a:solidFill>
              </a:rPr>
              <a:t> Working on a larger scale it can save fuels , time , money , wealth and health of the people</a:t>
            </a:r>
          </a:p>
        </p:txBody>
      </p:sp>
    </p:spTree>
    <p:extLst>
      <p:ext uri="{BB962C8B-B14F-4D97-AF65-F5344CB8AC3E}">
        <p14:creationId xmlns:p14="http://schemas.microsoft.com/office/powerpoint/2010/main" val="91447252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1816A18-28C4-6798-E83D-787D2077FE64}"/>
              </a:ext>
            </a:extLst>
          </p:cNvPr>
          <p:cNvPicPr>
            <a:picLocks noChangeAspect="1"/>
          </p:cNvPicPr>
          <p:nvPr/>
        </p:nvPicPr>
        <p:blipFill>
          <a:blip r:embed="rId2"/>
          <a:stretch>
            <a:fillRect/>
          </a:stretch>
        </p:blipFill>
        <p:spPr>
          <a:xfrm>
            <a:off x="0" y="1"/>
            <a:ext cx="9144000" cy="6776679"/>
          </a:xfrm>
          <a:prstGeom prst="rect">
            <a:avLst/>
          </a:prstGeom>
        </p:spPr>
      </p:pic>
      <p:sp>
        <p:nvSpPr>
          <p:cNvPr id="3" name="TextBox 2">
            <a:extLst>
              <a:ext uri="{FF2B5EF4-FFF2-40B4-BE49-F238E27FC236}">
                <a16:creationId xmlns:a16="http://schemas.microsoft.com/office/drawing/2014/main" id="{C0E140EB-B8AB-0D86-E2F0-BAFCA5430DA4}"/>
              </a:ext>
            </a:extLst>
          </p:cNvPr>
          <p:cNvSpPr txBox="1"/>
          <p:nvPr/>
        </p:nvSpPr>
        <p:spPr>
          <a:xfrm>
            <a:off x="849343" y="1123121"/>
            <a:ext cx="6981652" cy="3908762"/>
          </a:xfrm>
          <a:prstGeom prst="rect">
            <a:avLst/>
          </a:prstGeom>
          <a:noFill/>
        </p:spPr>
        <p:txBody>
          <a:bodyPr wrap="square" rtlCol="0">
            <a:spAutoFit/>
          </a:bodyPr>
          <a:lstStyle/>
          <a:p>
            <a:pPr algn="l"/>
            <a:r>
              <a:rPr lang="en-US" sz="4800" dirty="0">
                <a:solidFill>
                  <a:schemeClr val="bg1"/>
                </a:solidFill>
              </a:rPr>
              <a:t>Conclusion</a:t>
            </a:r>
            <a:r>
              <a:rPr lang="en-US" sz="4000" dirty="0">
                <a:solidFill>
                  <a:schemeClr val="bg1"/>
                </a:solidFill>
              </a:rPr>
              <a:t> </a:t>
            </a:r>
          </a:p>
          <a:p>
            <a:pPr algn="l"/>
            <a:r>
              <a:rPr lang="en-US" sz="2000" dirty="0">
                <a:solidFill>
                  <a:schemeClr val="bg1"/>
                </a:solidFill>
              </a:rPr>
              <a:t>
In conclusion, this website provides a smart and efficient solution to improve road safety and health awareness among drivers. By monitoring stress, heart rate, and driving behavior, it helps prevent accidents before they happen and ensures quick support in emergencies. With the ability to connect to police, ambulance services, and government systems, it can operate on a large scale and make transportation safer for everyone. Over time, this technology can help build a more responsible driving culture and save countless lives.</a:t>
            </a:r>
          </a:p>
        </p:txBody>
      </p:sp>
    </p:spTree>
    <p:extLst>
      <p:ext uri="{BB962C8B-B14F-4D97-AF65-F5344CB8AC3E}">
        <p14:creationId xmlns:p14="http://schemas.microsoft.com/office/powerpoint/2010/main" val="258878220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BDD0C4D-7776-1ECD-687B-6E6AD70962FF}"/>
              </a:ext>
            </a:extLst>
          </p:cNvPr>
          <p:cNvSpPr txBox="1"/>
          <p:nvPr/>
        </p:nvSpPr>
        <p:spPr>
          <a:xfrm>
            <a:off x="4987636" y="2514600"/>
            <a:ext cx="498764" cy="440032"/>
          </a:xfrm>
          <a:prstGeom prst="rect">
            <a:avLst/>
          </a:prstGeom>
          <a:noFill/>
        </p:spPr>
        <p:txBody>
          <a:bodyPr wrap="square" rtlCol="0">
            <a:spAutoFit/>
          </a:bodyPr>
          <a:lstStyle/>
          <a:p>
            <a:pPr algn="l"/>
            <a:endParaRPr lang="en-US" dirty="0"/>
          </a:p>
        </p:txBody>
      </p:sp>
      <p:pic>
        <p:nvPicPr>
          <p:cNvPr id="4" name="Picture 3">
            <a:extLst>
              <a:ext uri="{FF2B5EF4-FFF2-40B4-BE49-F238E27FC236}">
                <a16:creationId xmlns:a16="http://schemas.microsoft.com/office/drawing/2014/main" id="{66457A87-F880-038C-F337-7D4E00136DEA}"/>
              </a:ext>
            </a:extLst>
          </p:cNvPr>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3078110080"/>
      </p:ext>
    </p:extLst>
  </p:cSld>
  <p:clrMapOvr>
    <a:masterClrMapping/>
  </p:clrMapOvr>
  <p:transition spd="slow">
    <p:wheel spokes="1"/>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(4:3)</PresentationFormat>
  <Paragraphs>0</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Ammol Patodia</cp:lastModifiedBy>
  <cp:revision>15</cp:revision>
  <dcterms:created xsi:type="dcterms:W3CDTF">2013-01-27T09:14:16Z</dcterms:created>
  <dcterms:modified xsi:type="dcterms:W3CDTF">2025-11-12T06:20:58Z</dcterms:modified>
  <cp:category/>
</cp:coreProperties>
</file>